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12282C-C34D-4E81-B78B-4ABFFF103DA4}" v="3" dt="2026-08-15T11:20:56.5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6549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0"/>
            <a:ext cx="822960" cy="6858000"/>
          </a:xfrm>
          <a:prstGeom prst="rect">
            <a:avLst/>
          </a:prstGeom>
          <a:solidFill>
            <a:srgbClr val="1E276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720072" y="0"/>
            <a:ext cx="822960" cy="6858000"/>
          </a:xfrm>
          <a:prstGeom prst="rect">
            <a:avLst/>
          </a:prstGeom>
          <a:solidFill>
            <a:srgbClr val="3A5A99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543032" y="0"/>
            <a:ext cx="822960" cy="6858000"/>
          </a:xfrm>
          <a:prstGeom prst="rect">
            <a:avLst/>
          </a:prstGeom>
          <a:solidFill>
            <a:srgbClr val="1C7293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365992" y="0"/>
            <a:ext cx="822960" cy="6858000"/>
          </a:xfrm>
          <a:prstGeom prst="rect">
            <a:avLst/>
          </a:prstGeom>
          <a:solidFill>
            <a:srgbClr val="00C2D1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514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SEMICON INDIA HACKATHON 2026  ·  TRACK 1 — KLA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4882" y="82296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SIV-AI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654882" y="219456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Dual-Frequency Wavelet-Guided Neural Architecture for</a:t>
            </a:r>
            <a:endParaRPr lang="en-US" sz="19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Semiconductor Image Restoration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4882" y="3177540"/>
            <a:ext cx="85313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i="1" dirty="0">
                <a:solidFill>
                  <a:srgbClr val="AEB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frequency-aware deep-learning framework that restores degraded semiconductor inspection images while preserving fine structures and critical edges.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4332390"/>
            <a:ext cx="8531352" cy="1901299"/>
          </a:xfrm>
          <a:prstGeom prst="roundRect">
            <a:avLst>
              <a:gd name="adj" fmla="val 516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00C2D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1092336" y="4514523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27441" y="4468803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GLADIOPS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27242" y="490118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27441" y="4901184"/>
            <a:ext cx="6190861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Logesh. S  ·  Mohammed Yunus. M  · 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Laksmana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Venkadesh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G  · Mohammed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Tasfiq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Raja. M 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2336" y="5449637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60532" y="5449823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Restoration of Degraded Images for Semiconductor Inspection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07B2ED5-EBC1-7AE3-3005-CCD58DF22B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237" t="15204" r="30431" b="16949"/>
          <a:stretch>
            <a:fillRect/>
          </a:stretch>
        </p:blipFill>
        <p:spPr>
          <a:xfrm>
            <a:off x="3586874" y="933775"/>
            <a:ext cx="1153077" cy="10849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RESTORING INFORMATION, NOT JUST ENHANCING APPEARANCE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Understanding &amp; Restoration Task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SEMICONDUCTOR INSPECTION IMAGES ARE DEGRADED BY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2020824"/>
            <a:ext cx="109728" cy="109728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1109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Speckle and structured noise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496312"/>
            <a:ext cx="109728" cy="109728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386584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downsampling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971800"/>
            <a:ext cx="109728" cy="109728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86207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high-frequency details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3447288"/>
            <a:ext cx="109728" cy="109728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33375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Blurred or weakened edges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922776"/>
            <a:ext cx="109728" cy="109728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81304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Distortion of microscopic structures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566928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7091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RESTORATION OBJECTIVE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49834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 Image  →  Restored Image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53035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x̂ = fθ(y)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77240" y="57150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AEB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Restored image approximates the clean reference while preserving inspection-critical structures.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37960" y="1554480"/>
            <a:ext cx="5120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12280" y="17099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DIFFERENT?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812280" y="2029968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 is not visual enhancement — it is faithful recovery of inspection-critical structures.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37960" y="34290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37960" y="3794760"/>
            <a:ext cx="1188720" cy="14173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7960" y="3794760"/>
            <a:ext cx="1188720" cy="73152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592824" y="4041648"/>
            <a:ext cx="1078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PSNR ↑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92824" y="4480560"/>
            <a:ext cx="1078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fidelity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836408" y="3794760"/>
            <a:ext cx="1188720" cy="14173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36408" y="3794760"/>
            <a:ext cx="1188720" cy="73152"/>
          </a:xfrm>
          <a:prstGeom prst="roundRect">
            <a:avLst/>
          </a:prstGeom>
          <a:solidFill>
            <a:srgbClr val="3A5A99"/>
          </a:solidFill>
          <a:ln/>
        </p:spPr>
      </p:sp>
      <p:sp>
        <p:nvSpPr>
          <p:cNvPr id="30" name="Text 28"/>
          <p:cNvSpPr/>
          <p:nvPr/>
        </p:nvSpPr>
        <p:spPr>
          <a:xfrm>
            <a:off x="7891272" y="4041648"/>
            <a:ext cx="1078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SSIM ↑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891272" y="4480560"/>
            <a:ext cx="1078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fidelity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134856" y="3794760"/>
            <a:ext cx="1188720" cy="14173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34856" y="3794760"/>
            <a:ext cx="1188720" cy="73152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/>
          <p:nvPr/>
        </p:nvSpPr>
        <p:spPr>
          <a:xfrm>
            <a:off x="9189720" y="4041648"/>
            <a:ext cx="1078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LPIPS ↓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189720" y="4480560"/>
            <a:ext cx="1078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Perceptual similarity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0433304" y="3794760"/>
            <a:ext cx="1188720" cy="14173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433304" y="3794760"/>
            <a:ext cx="1188720" cy="73152"/>
          </a:xfrm>
          <a:prstGeom prst="roundRect">
            <a:avLst/>
          </a:prstGeom>
          <a:solidFill>
            <a:srgbClr val="00C2D1"/>
          </a:solidFill>
          <a:ln/>
        </p:spPr>
      </p:sp>
      <p:sp>
        <p:nvSpPr>
          <p:cNvPr id="38" name="Text 36"/>
          <p:cNvSpPr/>
          <p:nvPr/>
        </p:nvSpPr>
        <p:spPr>
          <a:xfrm>
            <a:off x="10488168" y="4041648"/>
            <a:ext cx="1078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Edges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0488168" y="4480560"/>
            <a:ext cx="1078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/ detail fidelity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537960" y="5440680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E9F2FF"/>
          </a:solidFill>
          <a:ln/>
        </p:spPr>
      </p:sp>
      <p:sp>
        <p:nvSpPr>
          <p:cNvPr id="41" name="Text 39"/>
          <p:cNvSpPr/>
          <p:nvPr/>
        </p:nvSpPr>
        <p:spPr>
          <a:xfrm>
            <a:off x="6812280" y="5559552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is measured by structural and perceptual fidelity — never by how sharp the image merely looks.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DEGRADATION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Analysis &amp; Degradation Observations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301752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2140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15568" y="2121408"/>
            <a:ext cx="4434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degraded and reference semiconductor images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2624328"/>
            <a:ext cx="4434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metrology / inspection imagery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12724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15568" y="3127248"/>
            <a:ext cx="4434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.npy image representation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363016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15568" y="3630168"/>
            <a:ext cx="4434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× 128 restoration patches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413308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15568" y="4133088"/>
            <a:ext cx="4434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floating-point intensity representation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89320" y="15544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DEGRADATION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89320" y="1874520"/>
            <a:ext cx="56692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874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138160" y="187452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Corrupts local intensity patterns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89320" y="2496312"/>
            <a:ext cx="5669280" cy="548640"/>
          </a:xfrm>
          <a:prstGeom prst="roundRect">
            <a:avLst>
              <a:gd name="adj" fmla="val 10000"/>
            </a:avLst>
          </a:prstGeom>
          <a:solidFill>
            <a:srgbClr val="EFF4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249631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Downsampling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138160" y="2496312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fine structures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89320" y="3118104"/>
            <a:ext cx="56692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311810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loss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138160" y="3118104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Weakens edges &amp; tiny features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89320" y="3739896"/>
            <a:ext cx="5669280" cy="548640"/>
          </a:xfrm>
          <a:prstGeom prst="roundRect">
            <a:avLst>
              <a:gd name="adj" fmla="val 10000"/>
            </a:avLst>
          </a:prstGeom>
          <a:solidFill>
            <a:srgbClr val="EFF4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3739896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138160" y="3739896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uniform denoising ineffective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66344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DATASET INSIGHT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2960" y="507492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degradation is not equally distributed across frequencies — low-frequency components preserve global structure, while high-frequency components carry most edge and fine-detail information.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48640" y="5806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IMPLICATION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Frequency-aware restoration is preferred over treating the image as a single, undifferentiated signal.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SIV-AI RESTORATION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 →  RESTORE  →  RECONSTRUCT  →  VALIDATE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444752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4944" y="1965960"/>
            <a:ext cx="13350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084832" y="1965960"/>
            <a:ext cx="1325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17420" y="1965960"/>
            <a:ext cx="1444752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72284" y="1965960"/>
            <a:ext cx="13350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&amp;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62172" y="1965960"/>
            <a:ext cx="1325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94760" y="1965960"/>
            <a:ext cx="1444752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9624" y="1965960"/>
            <a:ext cx="13350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Discrete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Wavelet Transform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239512" y="1965960"/>
            <a:ext cx="1325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72100" y="1965960"/>
            <a:ext cx="1444752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  <a:effectLst>
            <a:outerShdw blurRad="635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26964" y="1965960"/>
            <a:ext cx="13350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Frequency-Aware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Restoration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16852" y="1965960"/>
            <a:ext cx="1325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949440" y="1965960"/>
            <a:ext cx="1444752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04304" y="1965960"/>
            <a:ext cx="13350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394192" y="1965960"/>
            <a:ext cx="1325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526780" y="1965960"/>
            <a:ext cx="1444752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581644" y="1965960"/>
            <a:ext cx="13350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Restored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971532" y="1965960"/>
            <a:ext cx="1325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104120" y="1965960"/>
            <a:ext cx="1444752" cy="1051560"/>
          </a:xfrm>
          <a:prstGeom prst="roundRect">
            <a:avLst>
              <a:gd name="adj" fmla="val 7826"/>
            </a:avLst>
          </a:prstGeom>
          <a:solidFill>
            <a:srgbClr val="00C2D1"/>
          </a:solidFill>
          <a:ln/>
          <a:effectLst>
            <a:outerShdw blurRad="635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158984" y="1965960"/>
            <a:ext cx="13350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· SSIM · LPIPS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33832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DWT decomposes the image into four sub-bands: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131820" y="3703320"/>
            <a:ext cx="1228954" cy="748894"/>
          </a:xfrm>
          <a:prstGeom prst="roundRect">
            <a:avLst>
              <a:gd name="adj" fmla="val 9768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3131820" y="3758184"/>
            <a:ext cx="122895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</a:t>
            </a:r>
            <a:endParaRPr lang="en-US" sz="1470" dirty="0"/>
          </a:p>
        </p:txBody>
      </p:sp>
      <p:sp>
        <p:nvSpPr>
          <p:cNvPr id="28" name="Text 26"/>
          <p:cNvSpPr/>
          <p:nvPr/>
        </p:nvSpPr>
        <p:spPr>
          <a:xfrm>
            <a:off x="3131820" y="4177894"/>
            <a:ext cx="122895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8" dirty="0">
                <a:solidFill>
                  <a:srgbClr val="D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freq</a:t>
            </a:r>
            <a:endParaRPr lang="en-US" sz="788" dirty="0"/>
          </a:p>
        </p:txBody>
      </p:sp>
      <p:sp>
        <p:nvSpPr>
          <p:cNvPr id="29" name="Shape 27"/>
          <p:cNvSpPr/>
          <p:nvPr/>
        </p:nvSpPr>
        <p:spPr>
          <a:xfrm>
            <a:off x="4495190" y="3703320"/>
            <a:ext cx="1228954" cy="748894"/>
          </a:xfrm>
          <a:prstGeom prst="roundRect">
            <a:avLst>
              <a:gd name="adj" fmla="val 9768"/>
            </a:avLst>
          </a:prstGeom>
          <a:solidFill>
            <a:srgbClr val="3A5A99"/>
          </a:solidFill>
          <a:ln/>
        </p:spPr>
      </p:sp>
      <p:sp>
        <p:nvSpPr>
          <p:cNvPr id="30" name="Text 28"/>
          <p:cNvSpPr/>
          <p:nvPr/>
        </p:nvSpPr>
        <p:spPr>
          <a:xfrm>
            <a:off x="4495190" y="3758184"/>
            <a:ext cx="122895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</a:t>
            </a:r>
            <a:endParaRPr lang="en-US" sz="1470" dirty="0"/>
          </a:p>
        </p:txBody>
      </p:sp>
      <p:sp>
        <p:nvSpPr>
          <p:cNvPr id="31" name="Text 29"/>
          <p:cNvSpPr/>
          <p:nvPr/>
        </p:nvSpPr>
        <p:spPr>
          <a:xfrm>
            <a:off x="4495190" y="4177894"/>
            <a:ext cx="122895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8" dirty="0">
                <a:solidFill>
                  <a:srgbClr val="D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h-detail</a:t>
            </a:r>
            <a:endParaRPr lang="en-US" sz="788" dirty="0"/>
          </a:p>
        </p:txBody>
      </p:sp>
      <p:sp>
        <p:nvSpPr>
          <p:cNvPr id="32" name="Shape 30"/>
          <p:cNvSpPr/>
          <p:nvPr/>
        </p:nvSpPr>
        <p:spPr>
          <a:xfrm>
            <a:off x="5858561" y="3703320"/>
            <a:ext cx="1228954" cy="748894"/>
          </a:xfrm>
          <a:prstGeom prst="roundRect">
            <a:avLst>
              <a:gd name="adj" fmla="val 9768"/>
            </a:avLst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5858561" y="3758184"/>
            <a:ext cx="122895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</a:t>
            </a:r>
            <a:endParaRPr lang="en-US" sz="1470" dirty="0"/>
          </a:p>
        </p:txBody>
      </p:sp>
      <p:sp>
        <p:nvSpPr>
          <p:cNvPr id="34" name="Text 32"/>
          <p:cNvSpPr/>
          <p:nvPr/>
        </p:nvSpPr>
        <p:spPr>
          <a:xfrm>
            <a:off x="5858561" y="4177894"/>
            <a:ext cx="122895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8" dirty="0">
                <a:solidFill>
                  <a:srgbClr val="D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v-detail</a:t>
            </a:r>
            <a:endParaRPr lang="en-US" sz="788" dirty="0"/>
          </a:p>
        </p:txBody>
      </p:sp>
      <p:sp>
        <p:nvSpPr>
          <p:cNvPr id="35" name="Shape 33"/>
          <p:cNvSpPr/>
          <p:nvPr/>
        </p:nvSpPr>
        <p:spPr>
          <a:xfrm>
            <a:off x="7221931" y="3703320"/>
            <a:ext cx="1228954" cy="748894"/>
          </a:xfrm>
          <a:prstGeom prst="roundRect">
            <a:avLst>
              <a:gd name="adj" fmla="val 9768"/>
            </a:avLst>
          </a:prstGeom>
          <a:solidFill>
            <a:srgbClr val="00C2D1"/>
          </a:solidFill>
          <a:ln/>
        </p:spPr>
      </p:sp>
      <p:sp>
        <p:nvSpPr>
          <p:cNvPr id="36" name="Text 34"/>
          <p:cNvSpPr/>
          <p:nvPr/>
        </p:nvSpPr>
        <p:spPr>
          <a:xfrm>
            <a:off x="7221931" y="3758184"/>
            <a:ext cx="122895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</a:t>
            </a:r>
            <a:endParaRPr lang="en-US" sz="1470" dirty="0"/>
          </a:p>
        </p:txBody>
      </p:sp>
      <p:sp>
        <p:nvSpPr>
          <p:cNvPr id="37" name="Text 35"/>
          <p:cNvSpPr/>
          <p:nvPr/>
        </p:nvSpPr>
        <p:spPr>
          <a:xfrm>
            <a:off x="7221931" y="4177894"/>
            <a:ext cx="122895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8" dirty="0">
                <a:solidFill>
                  <a:srgbClr val="D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</a:t>
            </a:r>
            <a:endParaRPr lang="en-US" sz="788" dirty="0"/>
          </a:p>
        </p:txBody>
      </p:sp>
      <p:sp>
        <p:nvSpPr>
          <p:cNvPr id="38" name="Shape 36"/>
          <p:cNvSpPr/>
          <p:nvPr/>
        </p:nvSpPr>
        <p:spPr>
          <a:xfrm>
            <a:off x="548640" y="507492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52303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PIPELINE?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22960" y="55321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forcing one network to simultaneously model global structure, noise, edges, textures, and fine detail, SIV-AI explicitly exposes frequency-specific information to the restoration network — focusing capacity where degradation actually concentrates.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743341B8-60FF-864F-8010-E606DF275568}"/>
              </a:ext>
            </a:extLst>
          </p:cNvPr>
          <p:cNvSpPr/>
          <p:nvPr/>
        </p:nvSpPr>
        <p:spPr>
          <a:xfrm>
            <a:off x="816075" y="598921"/>
            <a:ext cx="2474040" cy="353962"/>
          </a:xfrm>
          <a:prstGeom prst="parallelogram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Degraded Image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0149D8-F73A-6AA3-C8D2-E001226764FA}"/>
              </a:ext>
            </a:extLst>
          </p:cNvPr>
          <p:cNvSpPr/>
          <p:nvPr/>
        </p:nvSpPr>
        <p:spPr>
          <a:xfrm>
            <a:off x="997973" y="1455173"/>
            <a:ext cx="1730477" cy="393291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Preprocessing</a:t>
            </a:r>
            <a:endParaRPr lang="en-I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B6A08FB-93FD-D623-8D55-62F17ECCD964}"/>
              </a:ext>
            </a:extLst>
          </p:cNvPr>
          <p:cNvCxnSpPr>
            <a:cxnSpLocks/>
          </p:cNvCxnSpPr>
          <p:nvPr/>
        </p:nvCxnSpPr>
        <p:spPr>
          <a:xfrm>
            <a:off x="1784551" y="962946"/>
            <a:ext cx="0" cy="511277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DE07FEE-7ECE-B37A-4494-2EC86140840D}"/>
              </a:ext>
            </a:extLst>
          </p:cNvPr>
          <p:cNvCxnSpPr>
            <a:cxnSpLocks/>
          </p:cNvCxnSpPr>
          <p:nvPr/>
        </p:nvCxnSpPr>
        <p:spPr>
          <a:xfrm>
            <a:off x="1784551" y="1839477"/>
            <a:ext cx="0" cy="688258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615D344-4528-8B7D-63A4-A83227958CC3}"/>
              </a:ext>
            </a:extLst>
          </p:cNvPr>
          <p:cNvSpPr/>
          <p:nvPr/>
        </p:nvSpPr>
        <p:spPr>
          <a:xfrm>
            <a:off x="2708786" y="4289784"/>
            <a:ext cx="481779" cy="508819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LH</a:t>
            </a:r>
            <a:endParaRPr lang="en-IN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FE0CAA6-C347-3EF8-57D6-17AE80421CEC}"/>
              </a:ext>
            </a:extLst>
          </p:cNvPr>
          <p:cNvSpPr/>
          <p:nvPr/>
        </p:nvSpPr>
        <p:spPr>
          <a:xfrm>
            <a:off x="2718618" y="4908601"/>
            <a:ext cx="553065" cy="508819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HL</a:t>
            </a:r>
            <a:endParaRPr lang="en-IN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25EA28F-7EB0-538A-5082-681E9ABA1BEB}"/>
              </a:ext>
            </a:extLst>
          </p:cNvPr>
          <p:cNvSpPr/>
          <p:nvPr/>
        </p:nvSpPr>
        <p:spPr>
          <a:xfrm>
            <a:off x="2757947" y="5512210"/>
            <a:ext cx="532169" cy="508819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HH</a:t>
            </a:r>
            <a:endParaRPr lang="en-IN" dirty="0"/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BE52BA64-632F-C66B-062F-D5EB137D1489}"/>
              </a:ext>
            </a:extLst>
          </p:cNvPr>
          <p:cNvCxnSpPr>
            <a:cxnSpLocks/>
          </p:cNvCxnSpPr>
          <p:nvPr/>
        </p:nvCxnSpPr>
        <p:spPr>
          <a:xfrm>
            <a:off x="919315" y="2963349"/>
            <a:ext cx="1789473" cy="1562715"/>
          </a:xfrm>
          <a:prstGeom prst="bent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AE06B67-4DE5-C60A-B618-4357751339B0}"/>
              </a:ext>
            </a:extLst>
          </p:cNvPr>
          <p:cNvCxnSpPr>
            <a:cxnSpLocks/>
          </p:cNvCxnSpPr>
          <p:nvPr/>
        </p:nvCxnSpPr>
        <p:spPr>
          <a:xfrm>
            <a:off x="1814051" y="4515156"/>
            <a:ext cx="0" cy="127604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36FB4FE-C827-F660-A924-434CD8C55718}"/>
              </a:ext>
            </a:extLst>
          </p:cNvPr>
          <p:cNvCxnSpPr/>
          <p:nvPr/>
        </p:nvCxnSpPr>
        <p:spPr>
          <a:xfrm>
            <a:off x="1823882" y="5163010"/>
            <a:ext cx="894737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988CA80-5675-CF50-E5A0-DAC130CA119A}"/>
              </a:ext>
            </a:extLst>
          </p:cNvPr>
          <p:cNvCxnSpPr/>
          <p:nvPr/>
        </p:nvCxnSpPr>
        <p:spPr>
          <a:xfrm>
            <a:off x="1814050" y="5766620"/>
            <a:ext cx="894737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E46A69A-0C50-9391-5849-FB23AF05AD58}"/>
              </a:ext>
            </a:extLst>
          </p:cNvPr>
          <p:cNvCxnSpPr>
            <a:cxnSpLocks/>
          </p:cNvCxnSpPr>
          <p:nvPr/>
        </p:nvCxnSpPr>
        <p:spPr>
          <a:xfrm>
            <a:off x="2182760" y="2952441"/>
            <a:ext cx="0" cy="98814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D22FB5B-F2AF-7B6B-9142-3F1C9242E480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2182760" y="3940585"/>
            <a:ext cx="545690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B755C20A-4303-8A30-F49F-39683BCEE276}"/>
              </a:ext>
            </a:extLst>
          </p:cNvPr>
          <p:cNvSpPr/>
          <p:nvPr/>
        </p:nvSpPr>
        <p:spPr>
          <a:xfrm>
            <a:off x="2728450" y="3686175"/>
            <a:ext cx="462116" cy="508819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</a:t>
            </a:r>
            <a:endParaRPr lang="en-IN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A401180-8E30-824C-154A-2850B5F66A3B}"/>
              </a:ext>
            </a:extLst>
          </p:cNvPr>
          <p:cNvSpPr/>
          <p:nvPr/>
        </p:nvSpPr>
        <p:spPr>
          <a:xfrm>
            <a:off x="4208206" y="3775125"/>
            <a:ext cx="1691148" cy="33091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NAFNET</a:t>
            </a:r>
            <a:endParaRPr lang="en-IN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92D1A38-7CA5-3A82-3EF4-1B04F3E2DAC8}"/>
              </a:ext>
            </a:extLst>
          </p:cNvPr>
          <p:cNvSpPr/>
          <p:nvPr/>
        </p:nvSpPr>
        <p:spPr>
          <a:xfrm>
            <a:off x="4176251" y="4987719"/>
            <a:ext cx="1691148" cy="33091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Restormer</a:t>
            </a:r>
            <a:endParaRPr lang="en-IN" dirty="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39B5E70-86DE-E37F-847E-78F5098059BD}"/>
              </a:ext>
            </a:extLst>
          </p:cNvPr>
          <p:cNvCxnSpPr>
            <a:cxnSpLocks/>
            <a:endCxn id="56" idx="1"/>
          </p:cNvCxnSpPr>
          <p:nvPr/>
        </p:nvCxnSpPr>
        <p:spPr>
          <a:xfrm>
            <a:off x="3220064" y="3940583"/>
            <a:ext cx="988142" cy="1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8E690DF7-2F44-7392-FB0A-84A025626B78}"/>
              </a:ext>
            </a:extLst>
          </p:cNvPr>
          <p:cNvCxnSpPr>
            <a:cxnSpLocks/>
            <a:stCxn id="22" idx="3"/>
            <a:endCxn id="58" idx="1"/>
          </p:cNvCxnSpPr>
          <p:nvPr/>
        </p:nvCxnSpPr>
        <p:spPr>
          <a:xfrm>
            <a:off x="3190565" y="4544194"/>
            <a:ext cx="985686" cy="608984"/>
          </a:xfrm>
          <a:prstGeom prst="bent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98B256DF-607C-AE9B-6865-7A0A85604833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3271683" y="5153177"/>
            <a:ext cx="401894" cy="983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23891F81-48BC-F8EC-C3E8-31CE691AAF18}"/>
              </a:ext>
            </a:extLst>
          </p:cNvPr>
          <p:cNvCxnSpPr>
            <a:cxnSpLocks/>
            <a:stCxn id="26" idx="3"/>
          </p:cNvCxnSpPr>
          <p:nvPr/>
        </p:nvCxnSpPr>
        <p:spPr>
          <a:xfrm flipV="1">
            <a:off x="3290116" y="5163010"/>
            <a:ext cx="383461" cy="603610"/>
          </a:xfrm>
          <a:prstGeom prst="bentConnector2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4803A908-45FF-05AA-D240-EDCDB12421A1}"/>
              </a:ext>
            </a:extLst>
          </p:cNvPr>
          <p:cNvCxnSpPr>
            <a:cxnSpLocks/>
            <a:stCxn id="58" idx="3"/>
          </p:cNvCxnSpPr>
          <p:nvPr/>
        </p:nvCxnSpPr>
        <p:spPr>
          <a:xfrm>
            <a:off x="5867399" y="5153178"/>
            <a:ext cx="532171" cy="861861"/>
          </a:xfrm>
          <a:prstGeom prst="bentConnector2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D987E6F9-1452-1036-16E5-F9FD423BB710}"/>
              </a:ext>
            </a:extLst>
          </p:cNvPr>
          <p:cNvCxnSpPr>
            <a:cxnSpLocks/>
            <a:stCxn id="56" idx="3"/>
          </p:cNvCxnSpPr>
          <p:nvPr/>
        </p:nvCxnSpPr>
        <p:spPr>
          <a:xfrm>
            <a:off x="5899354" y="3940584"/>
            <a:ext cx="511280" cy="1222425"/>
          </a:xfrm>
          <a:prstGeom prst="bentConnector2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7A35497B-5884-E768-0B1E-B800E32814FF}"/>
              </a:ext>
            </a:extLst>
          </p:cNvPr>
          <p:cNvSpPr/>
          <p:nvPr/>
        </p:nvSpPr>
        <p:spPr>
          <a:xfrm>
            <a:off x="8358650" y="6015038"/>
            <a:ext cx="2241752" cy="532943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Restored Sub-bands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AC15B00-7368-6A87-FDEE-78698E5A5A44}"/>
              </a:ext>
            </a:extLst>
          </p:cNvPr>
          <p:cNvSpPr/>
          <p:nvPr/>
        </p:nvSpPr>
        <p:spPr>
          <a:xfrm>
            <a:off x="8404124" y="3512727"/>
            <a:ext cx="2150804" cy="42393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Restored Image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10990799-FC35-DDBC-4865-3AA468AC6942}"/>
              </a:ext>
            </a:extLst>
          </p:cNvPr>
          <p:cNvSpPr/>
          <p:nvPr/>
        </p:nvSpPr>
        <p:spPr>
          <a:xfrm>
            <a:off x="8404122" y="2192593"/>
            <a:ext cx="2158178" cy="48177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PSNR / SSIM / LPIPS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78AA655-8F7A-B20D-3B31-0F1A4A976FF5}"/>
              </a:ext>
            </a:extLst>
          </p:cNvPr>
          <p:cNvCxnSpPr>
            <a:cxnSpLocks/>
            <a:endCxn id="85" idx="1"/>
          </p:cNvCxnSpPr>
          <p:nvPr/>
        </p:nvCxnSpPr>
        <p:spPr>
          <a:xfrm flipV="1">
            <a:off x="7478659" y="6281510"/>
            <a:ext cx="879991" cy="1"/>
          </a:xfrm>
          <a:prstGeom prst="straightConnector1">
            <a:avLst/>
          </a:prstGeom>
          <a:ln>
            <a:solidFill>
              <a:schemeClr val="bg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2381EF9C-4A58-2035-7668-C7B183414C96}"/>
              </a:ext>
            </a:extLst>
          </p:cNvPr>
          <p:cNvCxnSpPr>
            <a:cxnSpLocks/>
            <a:stCxn id="85" idx="0"/>
          </p:cNvCxnSpPr>
          <p:nvPr/>
        </p:nvCxnSpPr>
        <p:spPr>
          <a:xfrm flipV="1">
            <a:off x="9479526" y="5212632"/>
            <a:ext cx="0" cy="802406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F79D686A-6655-E646-9796-8AB8E40E0592}"/>
              </a:ext>
            </a:extLst>
          </p:cNvPr>
          <p:cNvCxnSpPr/>
          <p:nvPr/>
        </p:nvCxnSpPr>
        <p:spPr>
          <a:xfrm flipV="1">
            <a:off x="9485671" y="3994506"/>
            <a:ext cx="0" cy="802406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5EE05623-FF6E-BF8C-5C8A-7ABA288D1ACD}"/>
              </a:ext>
            </a:extLst>
          </p:cNvPr>
          <p:cNvCxnSpPr/>
          <p:nvPr/>
        </p:nvCxnSpPr>
        <p:spPr>
          <a:xfrm flipV="1">
            <a:off x="9446342" y="2674372"/>
            <a:ext cx="0" cy="802406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3811B2AF-1330-30C3-62E5-B37A39F551D6}"/>
              </a:ext>
            </a:extLst>
          </p:cNvPr>
          <p:cNvCxnSpPr>
            <a:cxnSpLocks/>
            <a:stCxn id="88" idx="0"/>
          </p:cNvCxnSpPr>
          <p:nvPr/>
        </p:nvCxnSpPr>
        <p:spPr>
          <a:xfrm flipH="1" flipV="1">
            <a:off x="9483209" y="1661036"/>
            <a:ext cx="2" cy="531557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F3173077-A828-2D3F-4DE8-6EB693C9FADE}"/>
              </a:ext>
            </a:extLst>
          </p:cNvPr>
          <p:cNvSpPr txBox="1"/>
          <p:nvPr/>
        </p:nvSpPr>
        <p:spPr>
          <a:xfrm>
            <a:off x="4522838" y="543786"/>
            <a:ext cx="2507223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Bookman Old Style" panose="02050604050505020204" pitchFamily="18" charset="0"/>
              </a:rPr>
              <a:t>BLOCK DIAGRAM</a:t>
            </a:r>
            <a:endParaRPr lang="en-IN" sz="2000" b="1" dirty="0">
              <a:latin typeface="Bookman Old Style" panose="02050604050505020204" pitchFamily="18" charset="0"/>
            </a:endParaRPr>
          </a:p>
        </p:txBody>
      </p:sp>
      <p:sp>
        <p:nvSpPr>
          <p:cNvPr id="116" name="Flowchart: Terminator 115">
            <a:extLst>
              <a:ext uri="{FF2B5EF4-FFF2-40B4-BE49-F238E27FC236}">
                <a16:creationId xmlns:a16="http://schemas.microsoft.com/office/drawing/2014/main" id="{46A46CC9-26E9-4CDD-F809-A253BEC98671}"/>
              </a:ext>
            </a:extLst>
          </p:cNvPr>
          <p:cNvSpPr/>
          <p:nvPr/>
        </p:nvSpPr>
        <p:spPr>
          <a:xfrm>
            <a:off x="5236907" y="6044686"/>
            <a:ext cx="2241752" cy="532927"/>
          </a:xfrm>
          <a:prstGeom prst="flowChartTermina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Frequency-Aware Neural Restoration</a:t>
            </a:r>
          </a:p>
        </p:txBody>
      </p:sp>
      <p:sp>
        <p:nvSpPr>
          <p:cNvPr id="118" name="Flowchart: Decision 117">
            <a:extLst>
              <a:ext uri="{FF2B5EF4-FFF2-40B4-BE49-F238E27FC236}">
                <a16:creationId xmlns:a16="http://schemas.microsoft.com/office/drawing/2014/main" id="{67340E0C-9CD2-966E-C99B-AFFF0C5B7A9B}"/>
              </a:ext>
            </a:extLst>
          </p:cNvPr>
          <p:cNvSpPr/>
          <p:nvPr/>
        </p:nvSpPr>
        <p:spPr>
          <a:xfrm>
            <a:off x="8576187" y="4544194"/>
            <a:ext cx="1920979" cy="685338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Inverse DWT</a:t>
            </a:r>
          </a:p>
        </p:txBody>
      </p:sp>
      <p:sp>
        <p:nvSpPr>
          <p:cNvPr id="119" name="Flowchart: Decision 118">
            <a:extLst>
              <a:ext uri="{FF2B5EF4-FFF2-40B4-BE49-F238E27FC236}">
                <a16:creationId xmlns:a16="http://schemas.microsoft.com/office/drawing/2014/main" id="{8CCC101C-68F6-5D03-9AF3-AFB4B47C6138}"/>
              </a:ext>
            </a:extLst>
          </p:cNvPr>
          <p:cNvSpPr/>
          <p:nvPr/>
        </p:nvSpPr>
        <p:spPr>
          <a:xfrm>
            <a:off x="262810" y="2547198"/>
            <a:ext cx="2957254" cy="1179679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2D Discrete Wavelet Transform</a:t>
            </a:r>
            <a:endParaRPr lang="en-IN" sz="1600" dirty="0"/>
          </a:p>
        </p:txBody>
      </p:sp>
      <p:sp>
        <p:nvSpPr>
          <p:cNvPr id="120" name="Parallelogram 119">
            <a:extLst>
              <a:ext uri="{FF2B5EF4-FFF2-40B4-BE49-F238E27FC236}">
                <a16:creationId xmlns:a16="http://schemas.microsoft.com/office/drawing/2014/main" id="{B50F13B7-2673-BBFE-A761-0C30EEF3FC4D}"/>
              </a:ext>
            </a:extLst>
          </p:cNvPr>
          <p:cNvSpPr/>
          <p:nvPr/>
        </p:nvSpPr>
        <p:spPr>
          <a:xfrm>
            <a:off x="8072284" y="962946"/>
            <a:ext cx="2490010" cy="639013"/>
          </a:xfrm>
          <a:prstGeom prst="parallelogram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Visual &amp; Structural Validation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B15A66-3669-06CC-DC8D-ECB244B5A3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237" t="15204" r="30431" b="16949"/>
          <a:stretch>
            <a:fillRect/>
          </a:stretch>
        </p:blipFill>
        <p:spPr>
          <a:xfrm>
            <a:off x="5235554" y="1539364"/>
            <a:ext cx="1153077" cy="108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952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DATA PREPARATION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&amp; Augmentation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5394960" cy="73152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83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77824" y="2281428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133856" y="2185416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paired degraded / reference samples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77824" y="2724912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1133856" y="262890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dimensions and numerical values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77824" y="3168396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1133856" y="3072384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float32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77824" y="3611880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1133856" y="351586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intensity range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77824" y="405536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1133856" y="3959352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model-ready tensors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77824" y="4498848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1133856" y="4402836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exact input–target correspondence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45352" y="1554480"/>
            <a:ext cx="539496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45352" y="1554480"/>
            <a:ext cx="5394960" cy="73152"/>
          </a:xfrm>
          <a:prstGeom prst="roundRect">
            <a:avLst/>
          </a:prstGeom>
          <a:solidFill>
            <a:srgbClr val="00C2D1"/>
          </a:solidFill>
          <a:ln/>
        </p:spPr>
      </p:sp>
      <p:sp>
        <p:nvSpPr>
          <p:cNvPr id="21" name="Text 19"/>
          <p:cNvSpPr/>
          <p:nvPr/>
        </p:nvSpPr>
        <p:spPr>
          <a:xfrm>
            <a:off x="6565392" y="1783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74536" y="2281428"/>
            <a:ext cx="100584" cy="100584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23" name="Text 21"/>
          <p:cNvSpPr/>
          <p:nvPr/>
        </p:nvSpPr>
        <p:spPr>
          <a:xfrm>
            <a:off x="6830568" y="2185416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flipping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74536" y="2724912"/>
            <a:ext cx="100584" cy="100584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25" name="Text 23"/>
          <p:cNvSpPr/>
          <p:nvPr/>
        </p:nvSpPr>
        <p:spPr>
          <a:xfrm>
            <a:off x="6830568" y="262890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flipping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74536" y="3168396"/>
            <a:ext cx="100584" cy="100584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27" name="Text 25"/>
          <p:cNvSpPr/>
          <p:nvPr/>
        </p:nvSpPr>
        <p:spPr>
          <a:xfrm>
            <a:off x="6830568" y="3072384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90° rotations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574536" y="3611880"/>
            <a:ext cx="100584" cy="100584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29" name="Text 27"/>
          <p:cNvSpPr/>
          <p:nvPr/>
        </p:nvSpPr>
        <p:spPr>
          <a:xfrm>
            <a:off x="6830568" y="351586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paired crops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574536" y="4055364"/>
            <a:ext cx="100584" cy="100584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31" name="Text 29"/>
          <p:cNvSpPr/>
          <p:nvPr/>
        </p:nvSpPr>
        <p:spPr>
          <a:xfrm>
            <a:off x="6830568" y="3959352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intensity variation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525780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5394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22960" y="56692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improves robustness without introducing artificial semiconductor structures or breaking image–target alignment. Every spatial transform is applied identically to the degraded image and its reference.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FREQUENCY-AWARE NEURAL RESTORATION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Architecture &amp; Design Rationale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·  FREQUENCY DECOMPOSITION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847088"/>
            <a:ext cx="1188720" cy="713232"/>
          </a:xfrm>
          <a:prstGeom prst="roundRect">
            <a:avLst>
              <a:gd name="adj" fmla="val 11538"/>
            </a:avLst>
          </a:prstGeom>
          <a:solidFill>
            <a:srgbClr val="1B234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47088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828800" y="20574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DWT →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97480" y="1874520"/>
            <a:ext cx="795894" cy="484998"/>
          </a:xfrm>
          <a:prstGeom prst="roundRect">
            <a:avLst>
              <a:gd name="adj" fmla="val 15083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1929384"/>
            <a:ext cx="79589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97480" y="2085198"/>
            <a:ext cx="79589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freq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580425" y="1874520"/>
            <a:ext cx="795894" cy="484998"/>
          </a:xfrm>
          <a:prstGeom prst="roundRect">
            <a:avLst>
              <a:gd name="adj" fmla="val 15083"/>
            </a:avLst>
          </a:prstGeom>
          <a:solidFill>
            <a:srgbClr val="3A5A99"/>
          </a:solidFill>
          <a:ln/>
        </p:spPr>
      </p:sp>
      <p:sp>
        <p:nvSpPr>
          <p:cNvPr id="12" name="Text 10"/>
          <p:cNvSpPr/>
          <p:nvPr/>
        </p:nvSpPr>
        <p:spPr>
          <a:xfrm>
            <a:off x="3580425" y="1929384"/>
            <a:ext cx="79589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80425" y="2085198"/>
            <a:ext cx="79589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h-detail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463369" y="1874520"/>
            <a:ext cx="795894" cy="484998"/>
          </a:xfrm>
          <a:prstGeom prst="roundRect">
            <a:avLst>
              <a:gd name="adj" fmla="val 15083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4463369" y="1929384"/>
            <a:ext cx="79589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63369" y="2085198"/>
            <a:ext cx="79589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v-detail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346314" y="1874520"/>
            <a:ext cx="795894" cy="484998"/>
          </a:xfrm>
          <a:prstGeom prst="roundRect">
            <a:avLst>
              <a:gd name="adj" fmla="val 15083"/>
            </a:avLst>
          </a:prstGeom>
          <a:solidFill>
            <a:srgbClr val="00C2D1"/>
          </a:solidFill>
          <a:ln/>
        </p:spPr>
      </p:sp>
      <p:sp>
        <p:nvSpPr>
          <p:cNvPr id="18" name="Text 16"/>
          <p:cNvSpPr/>
          <p:nvPr/>
        </p:nvSpPr>
        <p:spPr>
          <a:xfrm>
            <a:off x="5346314" y="1929384"/>
            <a:ext cx="79589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46314" y="2085198"/>
            <a:ext cx="79589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48640" y="2926080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28346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 — global / coarse structure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236976"/>
            <a:ext cx="91440" cy="91440"/>
          </a:xfrm>
          <a:prstGeom prst="ellipse">
            <a:avLst/>
          </a:prstGeom>
          <a:solidFill>
            <a:srgbClr val="3A5A99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14553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 — horizontal detail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547872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4564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 — vertical detail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3858768"/>
            <a:ext cx="91440" cy="9144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376732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 — high-frequency / diagonal detail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4434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·  NEURAL RESTORATION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75488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488289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NAFNet-inspired restoration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2960" y="5166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reconstruction of degraded features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55321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Restormer-inspired attention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2960" y="581558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contextual and long-range dependencies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63640" y="153619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·  RECONSTRUCTION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63640" y="1847088"/>
            <a:ext cx="53949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37960" y="2148840"/>
            <a:ext cx="4846320" cy="502920"/>
          </a:xfrm>
          <a:prstGeom prst="roundRect">
            <a:avLst>
              <a:gd name="adj" fmla="val 12727"/>
            </a:avLst>
          </a:prstGeom>
          <a:solidFill>
            <a:srgbClr val="EFF4FC"/>
          </a:solidFill>
          <a:ln/>
        </p:spPr>
      </p:sp>
      <p:sp>
        <p:nvSpPr>
          <p:cNvPr id="37" name="Text 35"/>
          <p:cNvSpPr/>
          <p:nvPr/>
        </p:nvSpPr>
        <p:spPr>
          <a:xfrm>
            <a:off x="6537960" y="21488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Restored LL + LH + HL + HH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823960" y="265176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537960" y="2907792"/>
            <a:ext cx="4846320" cy="502920"/>
          </a:xfrm>
          <a:prstGeom prst="roundRect">
            <a:avLst>
              <a:gd name="adj" fmla="val 12727"/>
            </a:avLst>
          </a:prstGeom>
          <a:solidFill>
            <a:srgbClr val="EFF4FC"/>
          </a:solidFill>
          <a:ln/>
        </p:spPr>
      </p:sp>
      <p:sp>
        <p:nvSpPr>
          <p:cNvPr id="40" name="Text 38"/>
          <p:cNvSpPr/>
          <p:nvPr/>
        </p:nvSpPr>
        <p:spPr>
          <a:xfrm>
            <a:off x="6537960" y="290779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DWT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823960" y="341071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537960" y="3666744"/>
            <a:ext cx="4846320" cy="502920"/>
          </a:xfrm>
          <a:prstGeom prst="roundRect">
            <a:avLst>
              <a:gd name="adj" fmla="val 12727"/>
            </a:avLst>
          </a:prstGeom>
          <a:solidFill>
            <a:srgbClr val="00C2D1"/>
          </a:solidFill>
          <a:ln/>
        </p:spPr>
      </p:sp>
      <p:sp>
        <p:nvSpPr>
          <p:cNvPr id="43" name="Text 41"/>
          <p:cNvSpPr/>
          <p:nvPr/>
        </p:nvSpPr>
        <p:spPr>
          <a:xfrm>
            <a:off x="6537960" y="366674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Restored Image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537960" y="484632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E9F2F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5" name="Text 43"/>
          <p:cNvSpPr/>
          <p:nvPr/>
        </p:nvSpPr>
        <p:spPr>
          <a:xfrm>
            <a:off x="6537960" y="48920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537960" y="5193792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Wavelets provide explicit frequency separation; neural restoration provides learned reconstruction — letting the model focus on the information most vulnerable to degradation.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MULTI-OBJECTIVE RESTORATION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Functions &amp; Training Setup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6720840" cy="777240"/>
          </a:xfrm>
          <a:prstGeom prst="roundRect">
            <a:avLst>
              <a:gd name="adj" fmla="val 10588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36192"/>
            <a:ext cx="6720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 = λ₁ L_L1 + λ₂ L_SSIM + λ₃ L_Edge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82296" cy="82296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42316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Loss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724912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direct pixel-level reconstruction. Goal: reduce absolute intensity error.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410712"/>
            <a:ext cx="82296" cy="822960"/>
          </a:xfrm>
          <a:prstGeom prst="roundRect">
            <a:avLst/>
          </a:prstGeom>
          <a:solidFill>
            <a:srgbClr val="3A5A9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41071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 Loss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77240" y="3712464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Encourages preservation of local structural information. Goal: maintain image structure.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398264"/>
            <a:ext cx="82296" cy="822960"/>
          </a:xfrm>
          <a:prstGeom prst="roundRect">
            <a:avLst/>
          </a:prstGeom>
          <a:solidFill>
            <a:srgbClr val="00C2D1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398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Loss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77240" y="4700016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 gradients compare predicted and reference edges. Goal: preserve sharp boundaries.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589520" y="153619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LOSS WEIGHTS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589520" y="1847088"/>
            <a:ext cx="40233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18470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818120" y="184708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0" y="0"/>
            <a:ext cx="914171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7589520" y="2359152"/>
            <a:ext cx="4023360" cy="457200"/>
          </a:xfrm>
          <a:prstGeom prst="roundRect">
            <a:avLst>
              <a:gd name="adj" fmla="val 10000"/>
            </a:avLst>
          </a:prstGeom>
          <a:solidFill>
            <a:srgbClr val="EFF4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8120" y="23591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818120" y="235915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0" y="0"/>
            <a:ext cx="914171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7589520" y="2871216"/>
            <a:ext cx="40233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18120" y="28712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818120" y="287121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0" y="0"/>
            <a:ext cx="914171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7589520" y="3383280"/>
            <a:ext cx="4023360" cy="18288"/>
          </a:xfrm>
          <a:prstGeom prst="round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7589520" y="36576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SETUP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589520" y="3968496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863840" y="396849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PyTorch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589520" y="4370832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863840" y="43708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CUDA GPU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589520" y="4773168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863840" y="47731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Validation-based checkpoint selection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589520" y="5175504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863840" y="517550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Best-performing checkpoint retained for inference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48640" y="5486400"/>
            <a:ext cx="6720840" cy="868680"/>
          </a:xfrm>
          <a:prstGeom prst="roundRect">
            <a:avLst>
              <a:gd name="adj" fmla="val 10526"/>
            </a:avLst>
          </a:prstGeom>
          <a:solidFill>
            <a:srgbClr val="E9F2FF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" y="5605272"/>
            <a:ext cx="6263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Sobel-based edge supervision is the direct link between the loss function and defect-relevant fidelity — not just pixel accuracy.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EXPERIMENTAL 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Tracking &amp; Baseline Comparison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PER EXPERIMENT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74520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23160" y="1874520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874520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loss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874520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1874520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404872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04872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23160" y="2404872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2404872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LPIPS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97680" y="2404872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2404872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count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2935224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935224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423160" y="2935224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23160" y="2935224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memory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97680" y="2935224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2935224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cases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703320"/>
            <a:ext cx="562356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8404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PHASE-4 CHECKPOINT EFFICIENCY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2960" y="4078224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~110K parameters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22960" y="45262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 restoration model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4983480"/>
            <a:ext cx="5623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is evaluated with the same data split, preprocessing and metrics for a fair comparison.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153619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PROGRESSION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187452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187452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178040" y="1874520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interpolation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92240" y="253288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92240" y="2734056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9400" y="2734056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178040" y="2734056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CNN baseline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92240" y="339242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92240" y="3593592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9400" y="3593592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178040" y="3593592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Full-band neural restoration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92240" y="425196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492240" y="4453128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00C2D1"/>
          </a:solidFill>
          <a:ln/>
        </p:spPr>
      </p:sp>
      <p:sp>
        <p:nvSpPr>
          <p:cNvPr id="42" name="Text 40"/>
          <p:cNvSpPr/>
          <p:nvPr/>
        </p:nvSpPr>
        <p:spPr>
          <a:xfrm>
            <a:off x="6629400" y="4453128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178040" y="4453128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SIV-AI — Frequency-Aware Restoration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RESTORATION PERFORMANCE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PSNR, SSIM &amp; LPIPS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94944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108960" y="16002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↑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0" y="16002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 ↑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LPIPS ↓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694944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10312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Bicubic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108960" y="210312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0" y="210312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035040" y="210312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670048"/>
            <a:ext cx="6949440" cy="566928"/>
          </a:xfrm>
          <a:prstGeom prst="roundRect">
            <a:avLst/>
          </a:prstGeom>
          <a:solidFill>
            <a:srgbClr val="EFF4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67004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Baseline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108960" y="2670048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0" y="2670048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35040" y="2670048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236976"/>
            <a:ext cx="694944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23697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Full-Band Model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108960" y="3236976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0" y="3236976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035040" y="3236976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3803904"/>
            <a:ext cx="6949440" cy="566928"/>
          </a:xfrm>
          <a:prstGeom prst="roundRect">
            <a:avLst/>
          </a:prstGeom>
          <a:solidFill>
            <a:srgbClr val="E9F2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80390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SIV-AI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108960" y="3803904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0" y="3803904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035040" y="3803904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448056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after final evaluation on the held-out test set.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909560" y="16002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PERFORMANCE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909560" y="1938528"/>
            <a:ext cx="374904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8138160" y="202996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</a:t>
            </a:r>
            <a:r>
              <a:rPr lang="pt-BR" sz="30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27.8 dB</a:t>
            </a:r>
          </a:p>
        </p:txBody>
      </p:sp>
      <p:sp>
        <p:nvSpPr>
          <p:cNvPr id="33" name="Text 31"/>
          <p:cNvSpPr/>
          <p:nvPr/>
        </p:nvSpPr>
        <p:spPr>
          <a:xfrm>
            <a:off x="8138160" y="259689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909560" y="3172968"/>
            <a:ext cx="374904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8138160" y="326440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0.</a:t>
            </a:r>
            <a:r>
              <a:rPr lang="pt-BR" sz="30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76db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8138160" y="383133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294914" y="4370832"/>
            <a:ext cx="3345398" cy="227256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94914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457267" y="5120640"/>
            <a:ext cx="288129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measures reconstruction fidelity, SSIM measures structural preservation, and LPIPS provides complementary perceptual evaluation.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432137" y="5943600"/>
            <a:ext cx="307095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the best model has the highest structural fidelity and lowest perceptual distortion — not merely the sharpest-looking image.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625559BC-953A-B16B-9D67-DC7ECAA565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8198" b="202"/>
          <a:stretch>
            <a:fillRect/>
          </a:stretch>
        </p:blipFill>
        <p:spPr>
          <a:xfrm>
            <a:off x="444898" y="1472184"/>
            <a:ext cx="7426969" cy="2715769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8740BA28-49F6-89EA-8D55-2ABE00491D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0133"/>
          <a:stretch>
            <a:fillRect/>
          </a:stretch>
        </p:blipFill>
        <p:spPr>
          <a:xfrm>
            <a:off x="444898" y="3458298"/>
            <a:ext cx="7426969" cy="32899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MEETS EFFICIENCY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Runtime, Batch Size &amp; Optimization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 ↔  Latency  ↔  Memory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6235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657600" y="1965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RTX 2050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5623560" cy="502920"/>
          </a:xfrm>
          <a:prstGeom prst="roundRect">
            <a:avLst>
              <a:gd name="adj" fmla="val 9091"/>
            </a:avLst>
          </a:prstGeom>
          <a:solidFill>
            <a:srgbClr val="EFF4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14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size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57600" y="2514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× 128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56235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063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57600" y="30632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623560" cy="502920"/>
          </a:xfrm>
          <a:prstGeom prst="roundRect">
            <a:avLst>
              <a:gd name="adj" fmla="val 9091"/>
            </a:avLst>
          </a:prstGeom>
          <a:solidFill>
            <a:srgbClr val="EFF4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6118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latency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57600" y="36118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33.18 ms / image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56235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1605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657600" y="4160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30.14 images / sec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5623560" cy="502920"/>
          </a:xfrm>
          <a:prstGeom prst="roundRect">
            <a:avLst>
              <a:gd name="adj" fmla="val 9091"/>
            </a:avLst>
          </a:prstGeom>
          <a:solidFill>
            <a:srgbClr val="EFF4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7091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VRAM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657600" y="4709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 GB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92240" y="19659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TECHNIQUES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2286000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766560" y="2286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CUDA-accelerated inference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2679192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766560" y="26791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torch.no_grad() execution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3072384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766560" y="307238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tensor operations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92240" y="3465576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766560" y="346557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Best-checkpoint deployment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92240" y="3858768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766560" y="38587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 / AMP optimization where applicable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92240" y="4343400"/>
            <a:ext cx="237744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43434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869680" y="43434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326880" y="4343400"/>
            <a:ext cx="2286000" cy="502920"/>
          </a:xfrm>
          <a:prstGeom prst="roundRect">
            <a:avLst>
              <a:gd name="adj" fmla="val 12727"/>
            </a:avLst>
          </a:prstGeom>
          <a:solidFill>
            <a:srgbClr val="00C2D1"/>
          </a:solidFill>
          <a:ln/>
        </p:spPr>
      </p:sp>
      <p:sp>
        <p:nvSpPr>
          <p:cNvPr id="38" name="Text 36"/>
          <p:cNvSpPr/>
          <p:nvPr/>
        </p:nvSpPr>
        <p:spPr>
          <a:xfrm>
            <a:off x="9326880" y="43434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TensorRT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92240" y="49377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deployment path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548640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822960" y="56052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22960" y="587959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 is not maximum model size — it is maximum restoration quality per unit of computation.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170E6CFA-666E-F715-C727-80D5EBBFB5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9136" r="34532" b="69362"/>
          <a:stretch>
            <a:fillRect/>
          </a:stretch>
        </p:blipFill>
        <p:spPr>
          <a:xfrm>
            <a:off x="6913984" y="379040"/>
            <a:ext cx="5120639" cy="1441995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78C3EFE5-6215-42B3-0CD1-4478CD0DE8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864" r="48850" b="1864"/>
          <a:stretch>
            <a:fillRect/>
          </a:stretch>
        </p:blipFill>
        <p:spPr>
          <a:xfrm>
            <a:off x="8729190" y="1740896"/>
            <a:ext cx="3459635" cy="19624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Results, Failure Cases &amp; Limitations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E7ECF5"/>
          </a:solidFill>
          <a:ln w="15875">
            <a:solidFill>
              <a:srgbClr val="B9C6DD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3566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restoration sample here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880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15968" y="155448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E7ECF5"/>
          </a:solidFill>
          <a:ln w="15875">
            <a:solidFill>
              <a:srgbClr val="B9C6DD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315968" y="1554480"/>
            <a:ext cx="3566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restoration sample here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15968" y="288036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315968" y="2880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83296" y="155448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E7ECF5"/>
          </a:solidFill>
          <a:ln w="15875">
            <a:solidFill>
              <a:srgbClr val="B9C6DD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8083296" y="1554480"/>
            <a:ext cx="3566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restoration sample here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83296" y="288036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083296" y="2880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SIV-AI Restored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36499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Highlight: edge recovery · fine-structure recovery · noise suppression · texture preservation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7947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5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CASES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4169664"/>
            <a:ext cx="100584" cy="100584"/>
          </a:xfrm>
          <a:prstGeom prst="ellipse">
            <a:avLst/>
          </a:prstGeom>
          <a:solidFill>
            <a:srgbClr val="C2540A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06908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low-SNR regions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517136"/>
            <a:ext cx="100584" cy="100584"/>
          </a:xfrm>
          <a:prstGeom prst="ellipse">
            <a:avLst/>
          </a:prstGeom>
          <a:solidFill>
            <a:srgbClr val="C2540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41655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thin structures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4864608"/>
            <a:ext cx="100584" cy="100584"/>
          </a:xfrm>
          <a:prstGeom prst="ellipse">
            <a:avLst/>
          </a:prstGeom>
          <a:solidFill>
            <a:srgbClr val="C2540A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764024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information loss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5212080"/>
            <a:ext cx="100584" cy="100584"/>
          </a:xfrm>
          <a:prstGeom prst="ellipse">
            <a:avLst/>
          </a:prstGeom>
          <a:solidFill>
            <a:srgbClr val="C2540A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111496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Unseen degradation patterns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" y="5559552"/>
            <a:ext cx="100584" cy="100584"/>
          </a:xfrm>
          <a:prstGeom prst="ellipse">
            <a:avLst/>
          </a:prstGeom>
          <a:solidFill>
            <a:srgbClr val="C2540A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45896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high-frequency details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3640" y="37947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81928" y="4169664"/>
            <a:ext cx="100584" cy="100584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406908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degradation diversity may affect generalization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81928" y="4517136"/>
            <a:ext cx="100584" cy="100584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2" name="Text 30"/>
          <p:cNvSpPr/>
          <p:nvPr/>
        </p:nvSpPr>
        <p:spPr>
          <a:xfrm>
            <a:off x="6537960" y="441655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/ SSIM cannot guarantee defect-level fidelity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81928" y="4864608"/>
            <a:ext cx="100584" cy="100584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4" name="Text 32"/>
          <p:cNvSpPr/>
          <p:nvPr/>
        </p:nvSpPr>
        <p:spPr>
          <a:xfrm>
            <a:off x="6537960" y="4764024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Perceptual metrics may not represent inspection value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81928" y="5212080"/>
            <a:ext cx="100584" cy="100584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6" name="Text 34"/>
          <p:cNvSpPr/>
          <p:nvPr/>
        </p:nvSpPr>
        <p:spPr>
          <a:xfrm>
            <a:off x="6537960" y="5111496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lost information cannot be recovered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81928" y="5559552"/>
            <a:ext cx="100584" cy="100584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8" name="Text 36"/>
          <p:cNvSpPr/>
          <p:nvPr/>
        </p:nvSpPr>
        <p:spPr>
          <a:xfrm>
            <a:off x="6537960" y="545896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semiconductor-tool validation still required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5989320"/>
            <a:ext cx="11091672" cy="594360"/>
          </a:xfrm>
          <a:prstGeom prst="roundRect">
            <a:avLst>
              <a:gd name="adj" fmla="val 13846"/>
            </a:avLst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59893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visually pleasing restoration is not necessarily an inspection-safe restoration.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D79542F8-830C-0B97-0084-0EE57637A9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757"/>
          <a:stretch>
            <a:fillRect/>
          </a:stretch>
        </p:blipFill>
        <p:spPr>
          <a:xfrm>
            <a:off x="539369" y="1192162"/>
            <a:ext cx="3566159" cy="169164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4B8567B4-7ABA-749C-2C75-F8F1A9177F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1192162"/>
            <a:ext cx="3566160" cy="169164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ACE27A53-FB32-2BE6-7C36-0192AA0BE5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568" y="1188720"/>
            <a:ext cx="3566032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0"/>
            <a:ext cx="822960" cy="6858000"/>
          </a:xfrm>
          <a:prstGeom prst="rect">
            <a:avLst/>
          </a:prstGeom>
          <a:solidFill>
            <a:srgbClr val="1E2761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720072" y="0"/>
            <a:ext cx="822960" cy="6858000"/>
          </a:xfrm>
          <a:prstGeom prst="rect">
            <a:avLst/>
          </a:prstGeom>
          <a:solidFill>
            <a:srgbClr val="3A5A99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543032" y="0"/>
            <a:ext cx="822960" cy="6858000"/>
          </a:xfrm>
          <a:prstGeom prst="rect">
            <a:avLst/>
          </a:prstGeom>
          <a:solidFill>
            <a:srgbClr val="1C7293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365992" y="0"/>
            <a:ext cx="822960" cy="6858000"/>
          </a:xfrm>
          <a:prstGeom prst="rect">
            <a:avLst/>
          </a:prstGeom>
          <a:solidFill>
            <a:srgbClr val="00C2D1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degraded pixels to inspection-ready information.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5440680" cy="1051560"/>
          </a:xfrm>
          <a:prstGeom prst="roundRect">
            <a:avLst>
              <a:gd name="adj" fmla="val 782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00C2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0992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645920" y="1728216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Decomposition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645920" y="205740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DWT separates structural and high-frequency information.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99632" y="1600200"/>
            <a:ext cx="5440680" cy="1051560"/>
          </a:xfrm>
          <a:prstGeom prst="roundRect">
            <a:avLst>
              <a:gd name="adj" fmla="val 782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00C2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170992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296912" y="1728216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Restoration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296912" y="205740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restoration reconstructs degraded frequency components.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834640"/>
            <a:ext cx="5440680" cy="1051560"/>
          </a:xfrm>
          <a:prstGeom prst="roundRect">
            <a:avLst>
              <a:gd name="adj" fmla="val 782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00C2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94436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645920" y="2962656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Edge-Aware Supervision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645920" y="329184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Sobel-based loss preserves inspection-critical boundaries.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99632" y="2834640"/>
            <a:ext cx="5440680" cy="1051560"/>
          </a:xfrm>
          <a:prstGeom prst="roundRect">
            <a:avLst>
              <a:gd name="adj" fmla="val 782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00C2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294436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296912" y="2962656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Evaluation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296912" y="329184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PSNR, SSIM, LPIPS, runtime and visual analysis validate results.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RESOURCES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462272"/>
            <a:ext cx="819302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00C2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462272"/>
            <a:ext cx="81930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495958" y="4462272"/>
            <a:ext cx="1060704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00C2D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95958" y="4462272"/>
            <a:ext cx="10607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PyWavelets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684678" y="4462272"/>
            <a:ext cx="738835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00C2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84678" y="4462272"/>
            <a:ext cx="7388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551530" y="4462272"/>
            <a:ext cx="819302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00C2D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51530" y="4462272"/>
            <a:ext cx="81930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498848" y="4462272"/>
            <a:ext cx="738835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00C2D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98848" y="4462272"/>
            <a:ext cx="7388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NAFNet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365699" y="4462272"/>
            <a:ext cx="980237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00C2D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65699" y="4462272"/>
            <a:ext cx="98023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Restormer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73952" y="4462272"/>
            <a:ext cx="497434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00C2D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73952" y="4462272"/>
            <a:ext cx="49743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099402" y="4462272"/>
            <a:ext cx="577901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00C2D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99402" y="4462272"/>
            <a:ext cx="57790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805318" y="4462272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00C2D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05318" y="446227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 Edge Loss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48640" y="49651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EB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libraries and published methods are acknowledged; the SIV-AI integration and restoration pipeline are our own implementation.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8640" y="5897880"/>
            <a:ext cx="11091672" cy="685800"/>
          </a:xfrm>
          <a:prstGeom prst="roundRect">
            <a:avLst>
              <a:gd name="adj" fmla="val 12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00C2D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" y="589788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2103120" y="589788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github.com/Logeshsk-Ind/SIV_AI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040880" y="58978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CHECKPOINT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869680" y="589788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[Checkpoint Name]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1220</Words>
  <Application>Microsoft Office PowerPoint</Application>
  <PresentationFormat>Custom</PresentationFormat>
  <Paragraphs>351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Bookman Old Style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LOGESH S</cp:lastModifiedBy>
  <cp:revision>3</cp:revision>
  <dcterms:created xsi:type="dcterms:W3CDTF">2026-08-15T10:58:36Z</dcterms:created>
  <dcterms:modified xsi:type="dcterms:W3CDTF">2026-08-16T03:17:30Z</dcterms:modified>
</cp:coreProperties>
</file>